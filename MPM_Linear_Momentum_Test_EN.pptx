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gif"/><Relationship Id="rId2" Type="http://schemas.openxmlformats.org/officeDocument/2006/relationships/image" Target="../media/image-3-2.gif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274320" cy="5088636"/>
          </a:xfrm>
          <a:prstGeom prst="rect">
            <a:avLst/>
          </a:prstGeom>
          <a:solidFill>
            <a:srgbClr val="283593"/>
          </a:solidFill>
          <a:ln w="12700">
            <a:solidFill>
              <a:srgbClr val="2835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54864"/>
            <a:ext cx="54864" cy="5088636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822960"/>
            <a:ext cx="201168" cy="201168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37360" y="758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BDE3"/>
                </a:solidFill>
              </a:rPr>
              <a:t>MPM Base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822960"/>
            <a:ext cx="201168" cy="20116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758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BDE3"/>
                </a:solidFill>
              </a:rPr>
              <a:t>MLS-MPM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822960"/>
            <a:ext cx="201168" cy="201168"/>
          </a:xfrm>
          <a:prstGeom prst="ellipse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0" y="758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BDE3"/>
                </a:solidFill>
              </a:rPr>
              <a:t>CKMPM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280160"/>
            <a:ext cx="8321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Momentum</a:t>
            </a:r>
            <a:endParaRPr lang="en-US" sz="4600" dirty="0"/>
          </a:p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502920" y="30632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ADB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MPM Base · MLS-MPM · CKMPM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ADB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Elastic Colliding Cubes (3-D)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0" y="4960620"/>
            <a:ext cx="9144000" cy="18288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Simulation Parameters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46E7A"/>
                </a:solidFill>
              </a:rPr>
              <a:t>All three solvers use identical initial conditions — only the MPM algorithm differs.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70432"/>
          <a:ext cx="8503920" cy="3566160"/>
        </p:xfrm>
        <a:graphic>
          <a:graphicData uri="http://schemas.openxmlformats.org/drawingml/2006/table">
            <a:tbl>
              <a:tblPr/>
              <a:tblGrid>
                <a:gridCol w="2331720"/>
                <a:gridCol w="1901952"/>
                <a:gridCol w="1901952"/>
                <a:gridCol w="1901952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MPM 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MLS-MPM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CKMPM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Young's Modulus  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× 10⁶ 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× 10⁶ Pa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× 10³ Pa *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Poisson's Ratio  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  ρ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kg/m³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kg/m³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kg/m³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velocity  v₀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±0.1 m/s (x)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±0.1 m/s (x)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±0.1 m/s (x)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Particles / cell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 (2³)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 (2³)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 (2³)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64³  → dx=1/64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64³ → dx=1/64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64³ → dx=1/64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Quadratic B-spline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MLS (APIC)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Quadratic B-spline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 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 grid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Implicit grid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4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kinematic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8006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65100"/>
                </a:solidFill>
              </a:rPr>
              <a:t>* CKMPM required E reduced to 1×10³ Pa for stable collision — see slides 5–6.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MPM Base &amp; MLS-MPM — Elastic Collision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114800" cy="3474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MPM Base  (Quadratic B-spline)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777240"/>
            <a:ext cx="4114800" cy="3474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777240"/>
            <a:ext cx="4114800" cy="347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MLS-MPM  (APIC)</a:t>
            </a:r>
            <a:endParaRPr lang="en-US" sz="1200" dirty="0"/>
          </a:p>
        </p:txBody>
      </p:sp>
      <p:pic>
        <p:nvPicPr>
          <p:cNvPr id="8" name="Image 0" descr="/sessions/loving-friendly-ramanujan/mnt/15763-mpm/mpm-base/3d/output/colliding_cubes_basic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170432"/>
            <a:ext cx="4114800" cy="2926080"/>
          </a:xfrm>
          <a:prstGeom prst="rect">
            <a:avLst/>
          </a:prstGeom>
        </p:spPr>
      </p:pic>
      <p:pic>
        <p:nvPicPr>
          <p:cNvPr id="9" name="Image 1" descr="/sessions/loving-friendly-ramanujan/mnt/15763-mpm/MLS_MPM_clone/tests/output/colliding_cubes_mlsmpm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170432"/>
            <a:ext cx="4114800" cy="292608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82880" y="4160520"/>
            <a:ext cx="8778240" cy="7772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20040" y="4187952"/>
            <a:ext cx="85039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Observation: </a:t>
            </a:r>
            <a:pPr indent="0" marL="0">
              <a:buNone/>
            </a:pPr>
            <a:r>
              <a:rPr lang="en-US" sz="1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conserve total momentum, but the cubes do not achieve perfect surface-to-surface contact. The implicit grid-based contact means momentum exchange begins before physical contact and the interface is smeared over ~2 dx.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Conservation — MPM Base &amp; MLS-MPM</a:t>
            </a:r>
            <a:endParaRPr lang="en-US" sz="2200" dirty="0"/>
          </a:p>
        </p:txBody>
      </p:sp>
      <p:pic>
        <p:nvPicPr>
          <p:cNvPr id="4" name="Image 0" descr="/sessions/loving-friendly-ramanujan/mnt/15763-mpm/mpm-base/3d/output/colliding_cubes_momentum_bas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77240"/>
            <a:ext cx="4114800" cy="2331720"/>
          </a:xfrm>
          <a:prstGeom prst="rect">
            <a:avLst/>
          </a:prstGeom>
        </p:spPr>
      </p:pic>
      <p:pic>
        <p:nvPicPr>
          <p:cNvPr id="5" name="Image 1" descr="/sessions/loving-friendly-ramanujan/mnt/15763-mpm/MLS_MPM_clone/tests/output/colliding_cubes_momentum_mlsmp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777240"/>
            <a:ext cx="4114800" cy="23317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182880" y="3200400"/>
            <a:ext cx="8778240" cy="1783080"/>
          </a:xfrm>
          <a:prstGeom prst="rect">
            <a:avLst/>
          </a:prstGeom>
          <a:solidFill>
            <a:srgbClr val="EEF2FF"/>
          </a:solidFill>
          <a:ln w="12700">
            <a:solidFill>
              <a:srgbClr val="9FA8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347472" y="3246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Why can't the cubes achieve zero-gap contact?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347472" y="3611880"/>
            <a:ext cx="8503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Grid resolution limit: </a:t>
            </a:r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= 1/64 m defines the finest scale at which pressure can be resolved. Two bodies begin exchanging momentum once their surfaces are within ~1.5 dx of a shared grid node — actual particle-level contact is never enforced.
</a:t>
            </a:r>
            <a:pPr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No contact separation: </a:t>
            </a:r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MPM has no explicit contact detection. Both bodies share the same background grid; the interaction is purely momentum-based. After bounce-back, the final speeds are slightly lower than initial (|Δp_total| ~10⁻⁵), indicating mild numerical dissipation through the shared grid.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CKMPM — Problem with Stiff Material (E = 1×10⁶ Pa)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4389120" cy="3200400"/>
          </a:xfrm>
          <a:prstGeom prst="rect">
            <a:avLst/>
          </a:prstGeom>
          <a:solidFill>
            <a:srgbClr val="EDE7F6"/>
          </a:solidFill>
          <a:ln w="12700">
            <a:solidFill>
              <a:srgbClr val="9575C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859536"/>
            <a:ext cx="4224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148C"/>
                </a:solidFill>
              </a:rPr>
              <a:t>What happens at E = 1×10⁶ Pa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" y="125272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271016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148C"/>
                </a:solidFill>
              </a:rPr>
              <a:t>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1271016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Cubes approach each other at ±0.1 m/s — stiff material barely deforms.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" y="180136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819656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148C"/>
                </a:solidFill>
              </a:rPr>
              <a:t>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" y="1819656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Contact detected → kinematic constraint removes all relative normal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2608" y="235000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2368296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148C"/>
                </a:solidFill>
              </a:rPr>
              <a:t>③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2368296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No elastic strain energy is stored or released (rigid body behaviour).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" y="2898648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2916936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148C"/>
                </a:solidFill>
              </a:rPr>
              <a:t>④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" y="2916936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Every subsequent step re-applies the constraint → cubes remain locked in place.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" y="3447288"/>
            <a:ext cx="4114800" cy="475488"/>
          </a:xfrm>
          <a:prstGeom prst="rect">
            <a:avLst/>
          </a:prstGeom>
          <a:solidFill>
            <a:srgbClr val="FCE4EC"/>
          </a:solidFill>
          <a:ln w="12700">
            <a:solidFill>
              <a:srgbClr val="CE93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3465576"/>
            <a:ext cx="347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D1457"/>
                </a:solidFill>
              </a:rPr>
              <a:t>⚠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" y="3465576"/>
            <a:ext cx="36393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D1457"/>
                </a:solidFill>
              </a:rPr>
              <a:t>Result: cubes freeze at collision point, simulation stalls.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822960"/>
            <a:ext cx="4206240" cy="3200400"/>
          </a:xfrm>
          <a:prstGeom prst="rect">
            <a:avLst/>
          </a:prstGeom>
          <a:solidFill>
            <a:srgbClr val="FBE9E7"/>
          </a:solidFill>
          <a:ln w="12700">
            <a:solidFill>
              <a:srgbClr val="EF9A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92040" y="8778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</a:rPr>
              <a:t>Why does CKMPM freeze?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1261872"/>
            <a:ext cx="39319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CKMPM uses explicit kinematic contact constraints </a:t>
            </a:r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(impulse-based projection) to separate bodies at each time step.
</a:t>
            </a:r>
            <a:pPr indent="0" marL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 = 1×10⁶ Pa:
</a:t>
            </a:r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Very stiff material → negligible deformation
</a:t>
            </a:r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contact constraint imposes zero relative normal velocity at the interface
</a:t>
            </a:r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solver repeatedly projects out velocities → cubes lock and stop moving
</a:t>
            </a:r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</a:t>
            </a:r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kinematic contact projection is incompatible with near-rigid elastic rebound when the material cannot store or release sufficient strain energy.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" y="4160520"/>
            <a:ext cx="8778240" cy="685800"/>
          </a:xfrm>
          <a:prstGeom prst="rect">
            <a:avLst/>
          </a:prstGeom>
          <a:solidFill>
            <a:srgbClr val="FCE4EC"/>
          </a:solidFill>
          <a:ln w="12700">
            <a:solidFill>
              <a:srgbClr val="F48FB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420624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D14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Young's modulus progressively until the contact-deformation cycle can close properly.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CKMPM — Softening Material to Achieve Stable Collision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645920" cy="77724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E = 1×10⁶ Pa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1C1C"/>
                </a:solidFill>
              </a:rPr>
              <a:t>✗  Freezes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103120" y="1394460"/>
            <a:ext cx="365760" cy="0"/>
          </a:xfrm>
          <a:prstGeom prst="line">
            <a:avLst/>
          </a:prstGeom>
          <a:noFill/>
          <a:ln w="19050">
            <a:solidFill>
              <a:srgbClr val="757575"/>
            </a:solidFill>
            <a:prstDash val="solid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2468880" y="1005840"/>
            <a:ext cx="1645920" cy="77724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E = 1×10⁵ Pa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1C1C"/>
                </a:solidFill>
              </a:rPr>
              <a:t>✗  Freezes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0" y="1394460"/>
            <a:ext cx="365760" cy="0"/>
          </a:xfrm>
          <a:prstGeom prst="line">
            <a:avLst/>
          </a:prstGeom>
          <a:noFill/>
          <a:ln w="19050">
            <a:solidFill>
              <a:srgbClr val="757575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4480560" y="1005840"/>
            <a:ext cx="1645920" cy="77724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8056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1C1C"/>
                </a:solidFill>
              </a:rPr>
              <a:t>E = 1×10⁴ Pa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1C1C"/>
                </a:solidFill>
              </a:rPr>
              <a:t>✗  Freezes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394460"/>
            <a:ext cx="365760" cy="0"/>
          </a:xfrm>
          <a:prstGeom prst="line">
            <a:avLst/>
          </a:prstGeom>
          <a:noFill/>
          <a:ln w="19050">
            <a:solidFill>
              <a:srgbClr val="757575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6492240" y="1005840"/>
            <a:ext cx="1645920" cy="77724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1005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E = 1×10³ Pa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E7D32"/>
                </a:solidFill>
              </a:rPr>
              <a:t>✓  Stable!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82880" y="1965960"/>
            <a:ext cx="4389120" cy="2834640"/>
          </a:xfrm>
          <a:prstGeom prst="rect">
            <a:avLst/>
          </a:prstGeom>
          <a:solidFill>
            <a:srgbClr val="EDE7F6"/>
          </a:solidFill>
          <a:ln w="12700">
            <a:solidFill>
              <a:srgbClr val="9575CD"/>
            </a:solidFill>
            <a:prstDash val="solid"/>
          </a:ln>
        </p:spPr>
      </p:sp>
      <p:pic>
        <p:nvPicPr>
          <p:cNvPr id="20" name="Image 0" descr="/sessions/loving-friendly-ramanujan/mnt/15763-mpm/output/colliding_cubes_basic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965960"/>
            <a:ext cx="4389120" cy="28346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82880" y="1965960"/>
            <a:ext cx="4389120" cy="320040"/>
          </a:xfrm>
          <a:prstGeom prst="rect">
            <a:avLst/>
          </a:prstGeom>
          <a:solidFill>
            <a:srgbClr val="4A148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CKMPM  E = 1×10³ Pa  ✓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54880" y="1965960"/>
            <a:ext cx="4206240" cy="2834640"/>
          </a:xfrm>
          <a:prstGeom prst="rect">
            <a:avLst/>
          </a:prstGeom>
          <a:solidFill>
            <a:srgbClr val="EEF2FF"/>
          </a:solidFill>
          <a:ln w="12700">
            <a:solidFill>
              <a:srgbClr val="9FA8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892040" y="20299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</a:rPr>
              <a:t>What changed?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892040" y="242316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 = 1×10³ Pa (softer material):
</a:t>
            </a:r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Cubes deform noticeably on impact → contact region stores elastic strain energy
</a:t>
            </a:r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stored energy drives the bodies apart after contact, allowing the kinematic constraints to release cleanly
</a:t>
            </a:r>
            <a:pPr indent="0" marL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simulation time extended to 5 s to capture the full bounce cycle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Methods Conserve Linear Momentum</a:t>
            </a:r>
            <a:endParaRPr lang="en-US" sz="2200" dirty="0"/>
          </a:p>
        </p:txBody>
      </p:sp>
      <p:pic>
        <p:nvPicPr>
          <p:cNvPr id="4" name="Image 0" descr="/sessions/loving-friendly-ramanujan/mnt/15763-mpm/mpm-base/3d/output/colliding_cubes_momentum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77240"/>
            <a:ext cx="8778240" cy="2880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8600" y="374904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28600" y="3749040"/>
            <a:ext cx="278892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8600" y="37490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MPM Base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28600" y="404164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|Δp|_max ≈ 2.6×10⁻⁵ kg·m/s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72968" y="374904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172968" y="3749040"/>
            <a:ext cx="2788920" cy="2743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72968" y="37490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MLS-MPM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172968" y="404164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|Δp|_max ≈ 1.6×10⁻⁵ kg·m/s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117336" y="3749040"/>
            <a:ext cx="2788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A14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117336" y="3749040"/>
            <a:ext cx="2788920" cy="27432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17336" y="374904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CKMPM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17336" y="404164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74F"/>
                </a:solidFill>
              </a:rPr>
              <a:t>|Δp|_max ≈ 1.6×10⁻⁶ kg·m/s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82880" y="4617720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5E20"/>
                </a:solidFill>
              </a:rPr>
              <a:t>✓  All solvers achieve total momentum conservation to within numerical precision.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CKMPM — Why More Energy Dissipation During Collision?</a:t>
            </a:r>
            <a:endParaRPr lang="en-US" sz="2100" dirty="0"/>
          </a:p>
        </p:txBody>
      </p:sp>
      <p:pic>
        <p:nvPicPr>
          <p:cNvPr id="4" name="Image 0" descr="/sessions/loving-friendly-ramanujan/mnt/15763-mpm/mpm-base/3d/output/colliding_cubes_momentum_ckm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77240"/>
            <a:ext cx="4846320" cy="25603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66360" y="822960"/>
            <a:ext cx="3749040" cy="1005840"/>
          </a:xfrm>
          <a:prstGeom prst="rect">
            <a:avLst/>
          </a:prstGeom>
          <a:solidFill>
            <a:srgbClr val="EDE7F6"/>
          </a:solidFill>
          <a:ln w="12700">
            <a:solidFill>
              <a:srgbClr val="CE93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230368" y="841248"/>
            <a:ext cx="3611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A148C"/>
                </a:solidFill>
              </a:rPr>
              <a:t>Post-collision |p| ≈ 0.19 kg·m/s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4A148C"/>
                </a:solidFill>
              </a:rPr>
              <a:t>vs initial |p| ≈ 0.28 kg·m/s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i="1" dirty="0">
                <a:solidFill>
                  <a:srgbClr val="4A148C"/>
                </a:solidFill>
              </a:rPr>
              <a:t>→ Δ ≈ 32 % energy absorbed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182880" y="1920240"/>
            <a:ext cx="8686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82880" y="1920240"/>
            <a:ext cx="54864" cy="82296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7472" y="19476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48C"/>
                </a:solidFill>
              </a:rPr>
              <a:t>1  Impulse-based contact projection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47472" y="224942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At each contact time step, CKMPM applies a velocity projection that removes the relative normal velocity at the contact surface. This operation is inherently inelastic — it eliminates the colliding component without recovering it as elastic strain.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82880" y="2834640"/>
            <a:ext cx="8686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82880" y="2834640"/>
            <a:ext cx="54864" cy="82296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" y="28620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48C"/>
                </a:solidFill>
              </a:rPr>
              <a:t>2  Dissipative constraint at softer 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47472" y="316382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With E = 10³ Pa, the bodies deform significantly before separating. The kinematic constraint "clamps" momentum at peak compression, leading to a longer energy-absorbing contact phase compared to the near-instantaneous bounce in the stiffer MPM Base/MLS runs.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82880" y="3749040"/>
            <a:ext cx="8686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B39D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82880" y="3749040"/>
            <a:ext cx="54864" cy="822960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7472" y="3776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48C"/>
                </a:solidFill>
              </a:rPr>
              <a:t>3  Momentum IS conserved; energy is not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47472" y="407822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46E7A"/>
                </a:solidFill>
              </a:rPr>
              <a:t>The velocity projection redistributes momentum symmetrically (total Δp ≈ 1.6×10⁻⁶), but the kinetic energy is partially transferred into heat/numerical dissipation. This is physically analogous to a partially inelastic collision.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A148C"/>
                </a:solidFill>
              </a:rPr>
              <a:t>Takeaway: CKMPM's explicit contact algorithm gives exact momentum conservation but at the cost of a larger (and more physically controllable) energy dissipation per collision event.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MPM Linear Momentum Unit Test – Comparison</dc:title>
  <dc:subject>PptxGenJS Presentation</dc:subject>
  <dc:creator>PptxGenJS</dc:creator>
  <cp:lastModifiedBy>PptxGenJS</cp:lastModifiedBy>
  <cp:revision>1</cp:revision>
  <dcterms:created xsi:type="dcterms:W3CDTF">2026-04-19T14:53:53Z</dcterms:created>
  <dcterms:modified xsi:type="dcterms:W3CDTF">2026-04-19T14:53:53Z</dcterms:modified>
</cp:coreProperties>
</file>